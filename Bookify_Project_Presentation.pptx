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6" r:id="rId9"/>
    <p:sldId id="267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40"/>
  </p:normalViewPr>
  <p:slideViewPr>
    <p:cSldViewPr snapToGrid="0">
      <p:cViewPr varScale="1">
        <p:scale>
          <a:sx n="111" d="100"/>
          <a:sy n="111" d="100"/>
        </p:scale>
        <p:origin x="6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14/04/26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34586"/>
            <a:ext cx="9144000" cy="1336472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dirty="0" err="1"/>
              <a:t>Bookify</a:t>
            </a:r>
            <a:r>
              <a:rPr dirty="0"/>
              <a:t>: Intelligent Book Recommendation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t>Akshat Tiwari (23FE10CSE00156)</a:t>
            </a:r>
          </a:p>
          <a:p>
            <a:r>
              <a:t>Aarjav Jain (23FE10SE00162)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t>Dr. Susheela Vishnoi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The explosion of digital platforms has exponentially increased the accessibility of literature; however, it has also paralyzed readers with an overwhelming paradox of choice and severe information overload.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 err="1"/>
              <a:t>Bookify</a:t>
            </a:r>
            <a:r>
              <a:rPr sz="1800" dirty="0"/>
              <a:t> addresses this critical friction by acting as a highly intelligent, context-aware book recommendation engine designed to curate bespoke reading lists and drastically simplify discovery.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The platform breaks away from static recommendations through a pioneering dual-engine system. It seamlessly orchestrates robust Collaborative Filtering with cutting-edge Deep Learning (Neural Collaborative Filtering) to deduce non-linear user preferences.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Elevating personalization to a new dimension, </a:t>
            </a:r>
            <a:r>
              <a:rPr sz="1800" dirty="0" err="1"/>
              <a:t>Bookify</a:t>
            </a:r>
            <a:r>
              <a:rPr sz="1800" dirty="0"/>
              <a:t> integrates a radical affective computing interface. Using client-side facial analysis, it perceives the user's real-time emotional state via a webcam and maps emotional archetypes directly to dynamic book genres.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This creates unparalleled user engagement, morphing </a:t>
            </a:r>
            <a:r>
              <a:rPr sz="1800" dirty="0" err="1"/>
              <a:t>Bookify</a:t>
            </a:r>
            <a:r>
              <a:rPr sz="1800" dirty="0"/>
              <a:t> from a classical digital library into an empathetic and highly responsive reading companion that anticipates reading desires instantly.</a:t>
            </a:r>
          </a:p>
        </p:txBody>
      </p:sp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684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Traditional Recommendation Limitations: Conventional systems historically rely on heuristic popularity lists, matrix factorization, and item-based collaborative filtering. These legacy models suffer dramatically from cold-start anomalies, over-specialization, and a failure to dynamically map evolving human tastes.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The Shift Towards Deep Learning (NCF): Recent academic milestones emphasize the superiority of Neural Collaborative Filtering. By employing dense latent factor embeddings and Multi-Layer </a:t>
            </a:r>
            <a:r>
              <a:rPr sz="1800" dirty="0" err="1"/>
              <a:t>Perceptrons</a:t>
            </a:r>
            <a:r>
              <a:rPr sz="1800" dirty="0"/>
              <a:t> (MLPs), modern algorithms learn nuanced, non-trivial interaction patterns that vastly outperform classical methodologies.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Multi-Modal and Contextual Inferences: Literature in Human-Computer Interaction (HCI) proves that unimodal inputs restrict personalization. Researchers advocate for multi-modal systems encompassing ambient context and affective states. Emotion recognition stands out as a critical feature space waiting to be hybridized with content engines.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The </a:t>
            </a:r>
            <a:r>
              <a:rPr sz="1800" dirty="0" err="1"/>
              <a:t>Bookify</a:t>
            </a:r>
            <a:r>
              <a:rPr sz="1800" dirty="0"/>
              <a:t> Paradigm: Building directly upon these theoretical foundations, </a:t>
            </a:r>
            <a:r>
              <a:rPr sz="1800" dirty="0" err="1"/>
              <a:t>Bookify</a:t>
            </a:r>
            <a:r>
              <a:rPr sz="1800" dirty="0"/>
              <a:t> serves as an architectural bridge connecting high-accuracy NCF deep learning models and continuous visual context inferences, representing the next evolutionary stage of content recommender pipelines.</a:t>
            </a:r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The modern software ecosystem is inundated with rudimentary algorithmic filters that lack the capacity to interpret implicit user needs, particularly the deep psychological states that dictate literature choices.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The overarching problem is to design, engineer, and deploy an end-to-end recommendation artifact that inherently overcomes cold-start limitations, unifies multi-faceted search mechanisms, and proactively aligns media suggestions with the immediate emotional affect of the user.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Consequently, this project must deliver a reliable, highly scalable algorithmic backend fused perfectly with an aesthetically premium user interface, ensuring blazing-fast performance without sacrificing cognitive usability or precision.</a:t>
            </a: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Deep Learning Integration: To architect and train an optimized Neural Collaborative Filtering (NCF) model using a dense semantic loss function capable of extrapolating precise user embeddings.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Affective Computing Implementation: To engineer a seamless, browser-based facial recognition module utilizing WebRTC and optimized artificial neural networks (face-</a:t>
            </a:r>
            <a:r>
              <a:rPr sz="1800" dirty="0" err="1"/>
              <a:t>api.js</a:t>
            </a:r>
            <a:r>
              <a:rPr sz="1800" dirty="0"/>
              <a:t>) for real-time mood categorization.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Dynamic Data Processing: To ingest, clean, and map an expanded dataset exceeding 1,200 literary works, constructing resilient interaction matrices for highly accurate cosine similarity calculations.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Scalable Architecture: To structure a decoupled backend-frontend ecosystem—utilizing a containerized Flask API—serving responses securely and consistently across scalable Cloud infrastructure.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Premium User Experience: To construct an incredibly fast, dynamic skeuomorphic interface with modern front-end frameworks (React, Tailwind CSS), ensuring real-time semantic search and fluid animations.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66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Phase 1: Dataset Augmentation &amp; Pipeline: Meticulously parsing collaborative datasets, expanding publisher clusters, tokenizing metadata, and constructing optimized user-item pivot tensors for neural training ingestion.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Phase 2: Core Algorithmic Engineering: Compiling a </a:t>
            </a:r>
            <a:r>
              <a:rPr sz="1800" dirty="0" err="1"/>
              <a:t>PyTorch</a:t>
            </a:r>
            <a:r>
              <a:rPr sz="1800" dirty="0"/>
              <a:t>-based NCF framework consisting of embedding layers followed by fully connected MLPs. Iteratively training to extract resilient feature vectors representing the corpus.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Phase 3: Real-Time Visual Processing: Abstracting the </a:t>
            </a:r>
            <a:r>
              <a:rPr sz="1800" dirty="0" err="1"/>
              <a:t>TinyFaceDetector</a:t>
            </a:r>
            <a:r>
              <a:rPr sz="1800" dirty="0"/>
              <a:t> and </a:t>
            </a:r>
            <a:r>
              <a:rPr sz="1800" dirty="0" err="1"/>
              <a:t>FaceExpressionNet</a:t>
            </a:r>
            <a:r>
              <a:rPr sz="1800" dirty="0"/>
              <a:t> into lightweight web components capable of processing client-side webcam fragments at 30 FPS, avoiding server bandwidth bottlenecks.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Phase 4: Full-Stack Assembly: Wiring affective mapping protocols to the ML backend. Exposing secure REST endpoints that resolve search tokens and mood enumerations into fast sub-second JSON predictions.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Phase 5: Virtualization &amp; Deployment: Packaging structural dependencies into Docker containers, securely managing hefty parameter weights (.</a:t>
            </a:r>
            <a:r>
              <a:rPr sz="1800" dirty="0" err="1"/>
              <a:t>pkl</a:t>
            </a:r>
            <a:r>
              <a:rPr sz="1800" dirty="0"/>
              <a:t> files) using Git-LFS, and ensuring continuous delivery pipelines via Hugging Face.</a:t>
            </a:r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Mathematical Accuracy: The implemented neural architecture significantly outpaced standard KNN algorithms, lowering the predictive Mean Average Error (MAE) and ensuring contextually richer embedding spaces within the matrix.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Real-Time Responsiveness: The UI achieved instant query gratification, pulling dynamic auto-completes and Top-5 fuzzy-matched iterations within phenomenally low sub-50ms latency margins across all searches.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Facial Inference Milestones: The implemented affective module proved remarkably consistent, accurately discretizing 7 major human emotions (Happy, Sad, Angry, Fearful, Disgusted, Surprised, Neutral) without offloading privacy-sensitive images to the cloud.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Platform Flexibility: Successfully established a dual-mode recommendation interface, allowing the end-user to toggle seamlessly between mathematically rigorous 'Classic' algorithmic recommendations and the more complex 'AI Schema'.</a:t>
            </a:r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Project Efficacy: </a:t>
            </a:r>
            <a:r>
              <a:rPr sz="1800" dirty="0" err="1"/>
              <a:t>Bookify</a:t>
            </a:r>
            <a:r>
              <a:rPr sz="1800" dirty="0"/>
              <a:t> transitions successfully from a theoretical proof-of-concept to a tangible product, delivering a comprehensive showcase of modern AI applicability coupled with robust continuous software engineering practices.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Immediate Achievements: Completely resolved all critical architectural bottlenecks, resulting in a fully open-sourced application that is currently live on Hugging Face Spaces, demonstrating practical reliability for public usage.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Future Enhancements (Iterative Roadmap): Planned transition to serverless microservices to handle greater matrix magnitudes, and incorporation of Large Language Models (LLMs) to synthesize personalized plot summaries automatically.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Strategic Vision: Implementation of persistent user authentication to track historical mood shifts over time, thereby enabling isolated reinforcement-based re-training cycles for the NCF model to achieve supreme personalization.</a:t>
            </a:r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sz="1800" dirty="0"/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He, </a:t>
            </a:r>
            <a:r>
              <a:rPr sz="1800" dirty="0" err="1"/>
              <a:t>Xiangnan</a:t>
            </a:r>
            <a:r>
              <a:rPr sz="1800" dirty="0"/>
              <a:t>, et al. 'Neural Collaborative Filtering.' Proceedings of the 26th International Conference on World Wide Web (WWW 2017) - Foundational deep learning principles.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Vincent </a:t>
            </a:r>
            <a:r>
              <a:rPr sz="1800" dirty="0" err="1"/>
              <a:t>Mühler</a:t>
            </a:r>
            <a:r>
              <a:rPr sz="1800" dirty="0"/>
              <a:t>. face-</a:t>
            </a:r>
            <a:r>
              <a:rPr sz="1800" dirty="0" err="1"/>
              <a:t>api.js</a:t>
            </a:r>
            <a:r>
              <a:rPr sz="1800" dirty="0"/>
              <a:t> Documentation and Pre-trained Neural Models - Core reference for implementing real-time browser-based computer vision routines via WebRTC.</a:t>
            </a:r>
          </a:p>
          <a:p>
            <a:pPr>
              <a:spcBef>
                <a:spcPts val="800"/>
              </a:spcBef>
              <a:spcAft>
                <a:spcPts val="1200"/>
              </a:spcAft>
            </a:pPr>
            <a:r>
              <a:rPr sz="1800" dirty="0"/>
              <a:t>Official </a:t>
            </a:r>
            <a:r>
              <a:rPr sz="1800" dirty="0" err="1"/>
              <a:t>PyTorch</a:t>
            </a:r>
            <a:r>
              <a:rPr sz="1800" dirty="0"/>
              <a:t> Framework &amp; Scikit-Learn Technical Specifications - Architectural paradigms for semantic vector training, loss computations, and large-scale data modeling.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800" dirty="0"/>
              <a:t>Open-Source Kaggle Book Corpus Datasets — Primary ground-truth structures for multi-modal user interaction arrays and demographic mapping architectures.</a:t>
            </a:r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1155</Words>
  <Application>Microsoft Macintosh PowerPoint</Application>
  <PresentationFormat>Widescreen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  Bookify: Intelligent Book Recommendation System</vt:lpstr>
      <vt:lpstr>Outline</vt:lpstr>
      <vt:lpstr>Introduction</vt:lpstr>
      <vt:lpstr>Literature Review</vt:lpstr>
      <vt:lpstr>Problem Statement</vt:lpstr>
      <vt:lpstr>Objectives</vt:lpstr>
      <vt:lpstr>Proposed Methodology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[BTECH-005-2023-24] AKSHAT TIWARI</cp:lastModifiedBy>
  <cp:revision>9</cp:revision>
  <dcterms:created xsi:type="dcterms:W3CDTF">2025-09-29T05:03:41Z</dcterms:created>
  <dcterms:modified xsi:type="dcterms:W3CDTF">2026-04-13T20:00:52Z</dcterms:modified>
</cp:coreProperties>
</file>